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22201C"/>
                </a:solidFill>
                <a:latin typeface="Calibri"/>
              </a:rPr>
              <a:t>GRB Pipeline Data Counts — emcee v2 &amp; OT v3 (cleaned) vs. the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B6558"/>
                </a:solidFill>
                <a:latin typeface="Calibri"/>
              </a:rPr>
              <a:t>Same starting combined pool (296) for both of ours; the paper doesn't report an equivalent early-stage count, so its column starts at the M-estimator stage.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987552"/>
            <a:ext cx="2606040" cy="457200"/>
          </a:xfrm>
          <a:prstGeom prst="roundRect">
            <a:avLst/>
          </a:prstGeom>
          <a:solidFill>
            <a:srgbClr val="2E6F7A"/>
          </a:solidFill>
          <a:ln w="6350">
            <a:solidFill>
              <a:srgbClr val="2E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emcee v2 (cleaned)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59" y="987552"/>
            <a:ext cx="2606040" cy="457200"/>
          </a:xfrm>
          <a:prstGeom prst="roundRect">
            <a:avLst/>
          </a:prstGeom>
          <a:solidFill>
            <a:srgbClr val="2E6F7A"/>
          </a:solidFill>
          <a:ln w="6350">
            <a:solidFill>
              <a:srgbClr val="2E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OT v3 (cleaned)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987552"/>
            <a:ext cx="2606040" cy="457200"/>
          </a:xfrm>
          <a:prstGeom prst="roundRect">
            <a:avLst/>
          </a:prstGeom>
          <a:solidFill>
            <a:srgbClr val="6B4E8E"/>
          </a:solidFill>
          <a:ln w="6350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Paper (Dainotti et al. 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72768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01C"/>
                </a:solidFill>
                <a:latin typeface="Calibri"/>
              </a:rPr>
              <a:t>Combined dataset (post-recovery + MICE + error-ratio cut)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572768"/>
            <a:ext cx="2606040" cy="502920"/>
          </a:xfrm>
          <a:prstGeom prst="roundRect">
            <a:avLst/>
          </a:prstGeom>
          <a:solidFill>
            <a:srgbClr val="B5502E"/>
          </a:solidFill>
          <a:ln w="6350">
            <a:solidFill>
              <a:srgbClr val="B55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59" y="1572768"/>
            <a:ext cx="2606040" cy="502920"/>
          </a:xfrm>
          <a:prstGeom prst="roundRect">
            <a:avLst/>
          </a:prstGeom>
          <a:solidFill>
            <a:srgbClr val="B5502E"/>
          </a:solidFill>
          <a:ln w="6350">
            <a:solidFill>
              <a:srgbClr val="B55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296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1572768"/>
            <a:ext cx="2606040" cy="502920"/>
          </a:xfrm>
          <a:prstGeom prst="roundRect">
            <a:avLst/>
          </a:prstGeom>
          <a:solidFill>
            <a:srgbClr val="B0AB9F"/>
          </a:solidFill>
          <a:ln w="6350">
            <a:solidFill>
              <a:srgbClr val="B0AB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7F5F1"/>
                </a:solidFill>
                <a:latin typeface="Calibr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167128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01C"/>
                </a:solidFill>
                <a:latin typeface="Calibri"/>
              </a:rPr>
              <a:t>Long-GRB scope filter (T90 &gt; 2s)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167128"/>
            <a:ext cx="2606040" cy="384048"/>
          </a:xfrm>
          <a:prstGeom prst="roundRect">
            <a:avLst/>
          </a:prstGeom>
          <a:solidFill>
            <a:srgbClr val="B5502E"/>
          </a:solidFill>
          <a:ln w="6350">
            <a:solidFill>
              <a:srgbClr val="B55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285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59" y="2167128"/>
            <a:ext cx="2606040" cy="384048"/>
          </a:xfrm>
          <a:prstGeom prst="roundRect">
            <a:avLst/>
          </a:prstGeom>
          <a:solidFill>
            <a:srgbClr val="B5502E"/>
          </a:solidFill>
          <a:ln w="6350">
            <a:solidFill>
              <a:srgbClr val="B55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285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2167128"/>
            <a:ext cx="2606040" cy="384048"/>
          </a:xfrm>
          <a:prstGeom prst="roundRect">
            <a:avLst/>
          </a:prstGeom>
          <a:solidFill>
            <a:srgbClr val="B0AB9F"/>
          </a:solidFill>
          <a:ln w="6350">
            <a:solidFill>
              <a:srgbClr val="B0AB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7F5F1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642616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C43730"/>
                </a:solidFill>
                <a:latin typeface="Calibri"/>
              </a:rPr>
              <a:t>Non-negotiable cuts — full removal</a:t>
            </a:r>
          </a:p>
          <a:p>
            <a:pPr algn="l"/>
            <a:r>
              <a:rPr sz="1050" b="1" i="0">
                <a:solidFill>
                  <a:srgbClr val="C43730"/>
                </a:solidFill>
                <a:latin typeface="Calibri"/>
              </a:rPr>
              <a:t>(Alpha&gt;3, Beta&gt;2, log10T90&gt;6, PhotonIndex&lt;0, err&gt;value)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2642616"/>
            <a:ext cx="2606040" cy="777240"/>
          </a:xfrm>
          <a:prstGeom prst="roundRect">
            <a:avLst/>
          </a:prstGeom>
          <a:solidFill>
            <a:srgbClr val="C43730"/>
          </a:solidFill>
          <a:ln w="6350">
            <a:solidFill>
              <a:srgbClr val="C43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254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(−31 of 34 flagged)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59" y="2642616"/>
            <a:ext cx="2606040" cy="777240"/>
          </a:xfrm>
          <a:prstGeom prst="roundRect">
            <a:avLst/>
          </a:prstGeom>
          <a:solidFill>
            <a:srgbClr val="C43730"/>
          </a:solidFill>
          <a:ln w="6350">
            <a:solidFill>
              <a:srgbClr val="C43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230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(−55 of 58 flagged)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2642616"/>
            <a:ext cx="2606040" cy="777240"/>
          </a:xfrm>
          <a:prstGeom prst="roundRect">
            <a:avLst/>
          </a:prstGeom>
          <a:solidFill>
            <a:srgbClr val="B0AB9F"/>
          </a:solidFill>
          <a:ln w="6350">
            <a:solidFill>
              <a:srgbClr val="B0AB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7F5F1"/>
                </a:solidFill>
                <a:latin typeface="Calibri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511296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01C"/>
                </a:solidFill>
                <a:latin typeface="Calibri"/>
              </a:rPr>
              <a:t>Pre-M-estimator pool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511296"/>
            <a:ext cx="2606040" cy="365760"/>
          </a:xfrm>
          <a:prstGeom prst="roundRect">
            <a:avLst/>
          </a:prstGeom>
          <a:solidFill>
            <a:srgbClr val="B5502E"/>
          </a:solidFill>
          <a:ln w="6350">
            <a:solidFill>
              <a:srgbClr val="B55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254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59" y="3511296"/>
            <a:ext cx="2606040" cy="365760"/>
          </a:xfrm>
          <a:prstGeom prst="roundRect">
            <a:avLst/>
          </a:prstGeom>
          <a:solidFill>
            <a:srgbClr val="B5502E"/>
          </a:solidFill>
          <a:ln w="6350">
            <a:solidFill>
              <a:srgbClr val="B55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3511296"/>
            <a:ext cx="2606040" cy="365760"/>
          </a:xfrm>
          <a:prstGeom prst="roundRect">
            <a:avLst/>
          </a:prstGeom>
          <a:solidFill>
            <a:srgbClr val="6B4E8E"/>
          </a:solidFill>
          <a:ln w="6350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968496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01C"/>
                </a:solidFill>
                <a:latin typeface="Calibri"/>
              </a:rPr>
              <a:t>M-estimator 5% cut (weight-based)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3968496"/>
            <a:ext cx="2606040" cy="384048"/>
          </a:xfrm>
          <a:prstGeom prst="roundRect">
            <a:avLst/>
          </a:prstGeom>
          <a:solidFill>
            <a:srgbClr val="B5502E"/>
          </a:solidFill>
          <a:ln w="6350">
            <a:solidFill>
              <a:srgbClr val="B55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241  (−13)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59" y="3968496"/>
            <a:ext cx="2606040" cy="384048"/>
          </a:xfrm>
          <a:prstGeom prst="roundRect">
            <a:avLst/>
          </a:prstGeom>
          <a:solidFill>
            <a:srgbClr val="B5502E"/>
          </a:solidFill>
          <a:ln w="6350">
            <a:solidFill>
              <a:srgbClr val="B55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218  (−12)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3968496"/>
            <a:ext cx="2606040" cy="384048"/>
          </a:xfrm>
          <a:prstGeom prst="roundRect">
            <a:avLst/>
          </a:prstGeom>
          <a:solidFill>
            <a:srgbClr val="6B4E8E"/>
          </a:solidFill>
          <a:ln w="6350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226  (−12)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443983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01C"/>
                </a:solidFill>
                <a:latin typeface="Calibri"/>
              </a:rPr>
              <a:t>Train / holdout split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4443983"/>
            <a:ext cx="2606040" cy="384048"/>
          </a:xfrm>
          <a:prstGeom prst="roundRect">
            <a:avLst/>
          </a:prstGeom>
          <a:solidFill>
            <a:srgbClr val="B5502E"/>
          </a:solidFill>
          <a:ln w="6350">
            <a:solidFill>
              <a:srgbClr val="B55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193 / 48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59" y="4443983"/>
            <a:ext cx="2606040" cy="384048"/>
          </a:xfrm>
          <a:prstGeom prst="roundRect">
            <a:avLst/>
          </a:prstGeom>
          <a:solidFill>
            <a:srgbClr val="B5502E"/>
          </a:solidFill>
          <a:ln w="6350">
            <a:solidFill>
              <a:srgbClr val="B55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175 / 43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4443983"/>
            <a:ext cx="2606040" cy="384048"/>
          </a:xfrm>
          <a:prstGeom prst="roundRect">
            <a:avLst/>
          </a:prstGeom>
          <a:solidFill>
            <a:srgbClr val="6B4E8E"/>
          </a:solidFill>
          <a:ln w="6350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180 / 46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919471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01C"/>
                </a:solidFill>
                <a:latin typeface="Calibri"/>
              </a:rPr>
              <a:t>Final, excluding catastrophic outliers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4919471"/>
            <a:ext cx="2606040" cy="384048"/>
          </a:xfrm>
          <a:prstGeom prst="roundRect">
            <a:avLst/>
          </a:prstGeom>
          <a:solidFill>
            <a:srgbClr val="B5502E"/>
          </a:solidFill>
          <a:ln w="6350">
            <a:solidFill>
              <a:srgbClr val="B55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186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59" y="4919471"/>
            <a:ext cx="2606040" cy="384048"/>
          </a:xfrm>
          <a:prstGeom prst="roundRect">
            <a:avLst/>
          </a:prstGeom>
          <a:solidFill>
            <a:srgbClr val="B5502E"/>
          </a:solidFill>
          <a:ln w="6350">
            <a:solidFill>
              <a:srgbClr val="B55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170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4919471"/>
            <a:ext cx="2606040" cy="384048"/>
          </a:xfrm>
          <a:prstGeom prst="roundRect">
            <a:avLst/>
          </a:prstGeom>
          <a:solidFill>
            <a:srgbClr val="B0AB9F"/>
          </a:solidFill>
          <a:ln w="6350">
            <a:solidFill>
              <a:srgbClr val="B0AB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7F5F1"/>
                </a:solidFill>
                <a:latin typeface="Calibri"/>
              </a:rPr>
              <a:t>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" y="5532119"/>
            <a:ext cx="11521440" cy="777240"/>
          </a:xfrm>
          <a:prstGeom prst="roundRect">
            <a:avLst/>
          </a:prstGeom>
          <a:solidFill>
            <a:srgbClr val="FDF0E8"/>
          </a:solidFill>
          <a:ln w="15875">
            <a:solidFill>
              <a:srgbClr val="C43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150">
                <a:solidFill>
                  <a:srgbClr val="22201C"/>
                </a:solidFill>
                <a:latin typeface="Calibri"/>
              </a:rPr>
              <a:t>Where the shortfall vs. the paper actually concentrates: the non-negotiable-cut stage, not the M-estimator step (which tracks the paper closely: 241/218 vs. 226, −12 to −13 either way). OT loses 55 of 58 flagged GRBs here — almost double emcee's 31 of 34 — nearly all to the err&gt;value:PeakFlux criterion. Worth auditing whether that specific criterion is over-flagging for OT before treating the lower final n as settled.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