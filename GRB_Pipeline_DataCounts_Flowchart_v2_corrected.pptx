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2201C"/>
                </a:solidFill>
                <a:latin typeface="Calibri"/>
              </a:rPr>
              <a:t>GRB Pipeline Data Counts — CORRECTED (PeakFlux excluded from err&gt;value)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B6558"/>
                </a:solidFill>
                <a:latin typeface="Calibri"/>
              </a:rPr>
              <a:t>Same combined pool (296) for both. Grey = 100-split formula search rerunning now with this corrected cut; not yet known.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960120"/>
            <a:ext cx="2606040" cy="457200"/>
          </a:xfrm>
          <a:prstGeom prst="roundRect">
            <a:avLst/>
          </a:prstGeom>
          <a:solidFill>
            <a:srgbClr val="2E6F7A"/>
          </a:solidFill>
          <a:ln w="6350">
            <a:solidFill>
              <a:srgbClr val="2E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emcee v2 (cleaned)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59" y="960120"/>
            <a:ext cx="2606040" cy="457200"/>
          </a:xfrm>
          <a:prstGeom prst="roundRect">
            <a:avLst/>
          </a:prstGeom>
          <a:solidFill>
            <a:srgbClr val="2E6F7A"/>
          </a:solidFill>
          <a:ln w="6350">
            <a:solidFill>
              <a:srgbClr val="2E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OT v3 (cleaned)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960120"/>
            <a:ext cx="2606040" cy="457200"/>
          </a:xfrm>
          <a:prstGeom prst="roundRect">
            <a:avLst/>
          </a:prstGeom>
          <a:solidFill>
            <a:srgbClr val="6B4E8E"/>
          </a:solidFill>
          <a:ln w="6350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Paper (Dainotti et al. 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45336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2201C"/>
                </a:solidFill>
                <a:latin typeface="Calibri"/>
              </a:rPr>
              <a:t>Combined dataset (post-recovery + MICE + error-ratio cut)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545336"/>
            <a:ext cx="2606040" cy="502920"/>
          </a:xfrm>
          <a:prstGeom prst="roundRect">
            <a:avLst/>
          </a:prstGeom>
          <a:solidFill>
            <a:srgbClr val="2E6F7A"/>
          </a:solidFill>
          <a:ln w="6350">
            <a:solidFill>
              <a:srgbClr val="2E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59" y="1545336"/>
            <a:ext cx="2606040" cy="502920"/>
          </a:xfrm>
          <a:prstGeom prst="roundRect">
            <a:avLst/>
          </a:prstGeom>
          <a:solidFill>
            <a:srgbClr val="2E6F7A"/>
          </a:solidFill>
          <a:ln w="6350">
            <a:solidFill>
              <a:srgbClr val="2E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296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1545336"/>
            <a:ext cx="2606040" cy="502920"/>
          </a:xfrm>
          <a:prstGeom prst="roundRect">
            <a:avLst/>
          </a:prstGeom>
          <a:solidFill>
            <a:srgbClr val="B0AB9F"/>
          </a:solidFill>
          <a:ln w="6350">
            <a:solidFill>
              <a:srgbClr val="B0AB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7F5F1"/>
                </a:solidFill>
                <a:latin typeface="Calibr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139696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2201C"/>
                </a:solidFill>
                <a:latin typeface="Calibri"/>
              </a:rPr>
              <a:t>Long-GRB scope filter (T90 &gt; 2s)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139696"/>
            <a:ext cx="2606040" cy="384048"/>
          </a:xfrm>
          <a:prstGeom prst="roundRect">
            <a:avLst/>
          </a:prstGeom>
          <a:solidFill>
            <a:srgbClr val="2E6F7A"/>
          </a:solidFill>
          <a:ln w="6350">
            <a:solidFill>
              <a:srgbClr val="2E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285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59" y="2139696"/>
            <a:ext cx="2606040" cy="384048"/>
          </a:xfrm>
          <a:prstGeom prst="roundRect">
            <a:avLst/>
          </a:prstGeom>
          <a:solidFill>
            <a:srgbClr val="2E6F7A"/>
          </a:solidFill>
          <a:ln w="6350">
            <a:solidFill>
              <a:srgbClr val="2E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285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2139696"/>
            <a:ext cx="2606040" cy="384048"/>
          </a:xfrm>
          <a:prstGeom prst="roundRect">
            <a:avLst/>
          </a:prstGeom>
          <a:solidFill>
            <a:srgbClr val="B0AB9F"/>
          </a:solidFill>
          <a:ln w="6350">
            <a:solidFill>
              <a:srgbClr val="B0AB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7F5F1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615184"/>
            <a:ext cx="3200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2201C"/>
                </a:solidFill>
                <a:latin typeface="Calibri"/>
              </a:rPr>
              <a:t>Non-negotiable cuts — full removal</a:t>
            </a:r>
          </a:p>
          <a:p>
            <a:pPr algn="l"/>
            <a:r>
              <a:rPr sz="1000" b="0" i="0">
                <a:solidFill>
                  <a:srgbClr val="22201C"/>
                </a:solidFill>
                <a:latin typeface="Calibri"/>
              </a:rPr>
              <a:t>(Alpha&gt;3, Beta&gt;2, log10T90&gt;6, PhotonIndex&lt;0,</a:t>
            </a:r>
          </a:p>
          <a:p>
            <a:pPr algn="l"/>
            <a:r>
              <a:rPr sz="1000" b="0" i="0">
                <a:solidFill>
                  <a:srgbClr val="22201C"/>
                </a:solidFill>
                <a:latin typeface="Calibri"/>
              </a:rPr>
              <a:t>err&gt;value on T90/Fa/Ta/Fluence/Alpha/Beta/PhotonIndex</a:t>
            </a:r>
          </a:p>
          <a:p>
            <a:pPr algn="l"/>
            <a:r>
              <a:rPr sz="1000" b="0" i="0">
                <a:solidFill>
                  <a:srgbClr val="22201C"/>
                </a:solidFill>
                <a:latin typeface="Calibri"/>
              </a:rPr>
              <a:t>— PeakFlux EXCLUDED, unstable/unexplained)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615184"/>
            <a:ext cx="2606040" cy="960120"/>
          </a:xfrm>
          <a:prstGeom prst="roundRect">
            <a:avLst/>
          </a:prstGeom>
          <a:solidFill>
            <a:srgbClr val="2E8F5A"/>
          </a:solidFill>
          <a:ln w="6350">
            <a:solidFill>
              <a:srgbClr val="2E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284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(−1 of 3 flagged)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59" y="2615184"/>
            <a:ext cx="2606040" cy="960120"/>
          </a:xfrm>
          <a:prstGeom prst="roundRect">
            <a:avLst/>
          </a:prstGeom>
          <a:solidFill>
            <a:srgbClr val="2E8F5A"/>
          </a:solidFill>
          <a:ln w="6350">
            <a:solidFill>
              <a:srgbClr val="2E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283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(−2 of 4 flagged)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2615184"/>
            <a:ext cx="2606040" cy="960120"/>
          </a:xfrm>
          <a:prstGeom prst="roundRect">
            <a:avLst/>
          </a:prstGeom>
          <a:solidFill>
            <a:srgbClr val="B0AB9F"/>
          </a:solidFill>
          <a:ln w="6350">
            <a:solidFill>
              <a:srgbClr val="B0AB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7F5F1"/>
                </a:solidFill>
                <a:latin typeface="Calibr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666744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2201C"/>
                </a:solidFill>
                <a:latin typeface="Calibri"/>
              </a:rPr>
              <a:t>Pre-M-estimator pool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666744"/>
            <a:ext cx="2606040" cy="365760"/>
          </a:xfrm>
          <a:prstGeom prst="roundRect">
            <a:avLst/>
          </a:prstGeom>
          <a:solidFill>
            <a:srgbClr val="2E6F7A"/>
          </a:solidFill>
          <a:ln w="6350">
            <a:solidFill>
              <a:srgbClr val="2E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284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59" y="3666744"/>
            <a:ext cx="2606040" cy="365760"/>
          </a:xfrm>
          <a:prstGeom prst="roundRect">
            <a:avLst/>
          </a:prstGeom>
          <a:solidFill>
            <a:srgbClr val="2E6F7A"/>
          </a:solidFill>
          <a:ln w="6350">
            <a:solidFill>
              <a:srgbClr val="2E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283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3666744"/>
            <a:ext cx="2606040" cy="365760"/>
          </a:xfrm>
          <a:prstGeom prst="roundRect">
            <a:avLst/>
          </a:prstGeom>
          <a:solidFill>
            <a:srgbClr val="6B4E8E"/>
          </a:solidFill>
          <a:ln w="6350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123944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2201C"/>
                </a:solidFill>
                <a:latin typeface="Calibri"/>
              </a:rPr>
              <a:t>M-estimator 5% cut (weight-based)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123944"/>
            <a:ext cx="2606040" cy="502920"/>
          </a:xfrm>
          <a:prstGeom prst="roundRect">
            <a:avLst/>
          </a:prstGeom>
          <a:solidFill>
            <a:srgbClr val="8A8478"/>
          </a:solidFill>
          <a:ln w="6350">
            <a:solidFill>
              <a:srgbClr val="8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search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running...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59" y="4123944"/>
            <a:ext cx="2606040" cy="502920"/>
          </a:xfrm>
          <a:prstGeom prst="roundRect">
            <a:avLst/>
          </a:prstGeom>
          <a:solidFill>
            <a:srgbClr val="8A8478"/>
          </a:solidFill>
          <a:ln w="6350">
            <a:solidFill>
              <a:srgbClr val="8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queued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4123944"/>
            <a:ext cx="2606040" cy="502920"/>
          </a:xfrm>
          <a:prstGeom prst="roundRect">
            <a:avLst/>
          </a:prstGeom>
          <a:solidFill>
            <a:srgbClr val="6B4E8E"/>
          </a:solidFill>
          <a:ln w="6350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226  (−12)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718304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2201C"/>
                </a:solidFill>
                <a:latin typeface="Calibri"/>
              </a:rPr>
              <a:t>Train / holdout split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4718304"/>
            <a:ext cx="2606040" cy="384048"/>
          </a:xfrm>
          <a:prstGeom prst="roundRect">
            <a:avLst/>
          </a:prstGeom>
          <a:solidFill>
            <a:srgbClr val="8A8478"/>
          </a:solidFill>
          <a:ln w="6350">
            <a:solidFill>
              <a:srgbClr val="8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59" y="4718304"/>
            <a:ext cx="2606040" cy="384048"/>
          </a:xfrm>
          <a:prstGeom prst="roundRect">
            <a:avLst/>
          </a:prstGeom>
          <a:solidFill>
            <a:srgbClr val="8A8478"/>
          </a:solidFill>
          <a:ln w="6350">
            <a:solidFill>
              <a:srgbClr val="8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4718304"/>
            <a:ext cx="2606040" cy="384048"/>
          </a:xfrm>
          <a:prstGeom prst="roundRect">
            <a:avLst/>
          </a:prstGeom>
          <a:solidFill>
            <a:srgbClr val="6B4E8E"/>
          </a:solidFill>
          <a:ln w="6350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180 / 46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193792"/>
            <a:ext cx="3200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2201C"/>
                </a:solidFill>
                <a:latin typeface="Calibri"/>
              </a:rPr>
              <a:t>Final, excluding catastrophic outliers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5193792"/>
            <a:ext cx="2606040" cy="384048"/>
          </a:xfrm>
          <a:prstGeom prst="roundRect">
            <a:avLst/>
          </a:prstGeom>
          <a:solidFill>
            <a:srgbClr val="8A8478"/>
          </a:solidFill>
          <a:ln w="6350">
            <a:solidFill>
              <a:srgbClr val="8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59" y="5193792"/>
            <a:ext cx="2606040" cy="384048"/>
          </a:xfrm>
          <a:prstGeom prst="roundRect">
            <a:avLst/>
          </a:prstGeom>
          <a:solidFill>
            <a:srgbClr val="8A8478"/>
          </a:solidFill>
          <a:ln w="6350">
            <a:solidFill>
              <a:srgbClr val="8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5193792"/>
            <a:ext cx="2606040" cy="384048"/>
          </a:xfrm>
          <a:prstGeom prst="roundRect">
            <a:avLst/>
          </a:prstGeom>
          <a:solidFill>
            <a:srgbClr val="B0AB9F"/>
          </a:solidFill>
          <a:ln w="6350">
            <a:solidFill>
              <a:srgbClr val="B0AB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7F5F1"/>
                </a:solidFill>
                <a:latin typeface="Calibri"/>
              </a:rP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" y="5760719"/>
            <a:ext cx="11521440" cy="868680"/>
          </a:xfrm>
          <a:prstGeom prst="roundRect">
            <a:avLst/>
          </a:prstGeom>
          <a:solidFill>
            <a:srgbClr val="E9F5EC"/>
          </a:solidFill>
          <a:ln w="15875">
            <a:solidFill>
              <a:srgbClr val="2E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150">
                <a:solidFill>
                  <a:srgbClr val="22201C"/>
                </a:solidFill>
                <a:latin typeface="Calibri"/>
              </a:rPr>
              <a:t>What changed: err&gt;value:PeakFlux was dropped from the non-negotiable cuts. It was unstable (near-zero log10PeakFlux denominators inflate the ratio regardless of data quality — explained 94% of emcee's 31 flags) and, for OT, tied to unexplained huge linear PeakFluxErr values with no clear cause. Result: the cut stage goes from removing 31/55 GRBs to just 1/2 — the non-negotiable cuts are now correctly a near-no-op, matching what the 4 original criteria (Alpha&gt;3, Beta&gt;2, log10T90&gt;6, PhotonIndex&lt;0) always implied on their own. Both 100-split searches are rerunning on this corrected ~284/283-GRB pool now; M-estimator cut and final SuperLearner numbers will fill in once done.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