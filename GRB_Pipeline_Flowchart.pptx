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01C"/>
                </a:solidFill>
                <a:latin typeface="Calibri"/>
              </a:rPr>
              <a:t>GRB Redshift Pipeline — Data Flow (emcee v2, cleaned)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8A8478"/>
                </a:solidFill>
                <a:latin typeface="Calibri"/>
              </a:rPr>
              <a:t>Raw catalogs → combination + recovery → non-negotiable cuts → formula generation → SuperLearner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1673352" cy="566928"/>
          </a:xfrm>
          <a:prstGeom prst="roundRect">
            <a:avLst/>
          </a:prstGeom>
          <a:solidFill>
            <a:srgbClr val="3D4A5C"/>
          </a:solidFill>
          <a:ln w="635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xray_data.csv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(unfiltered xray)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251 GRBs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2264" y="868680"/>
            <a:ext cx="1673352" cy="566928"/>
          </a:xfrm>
          <a:prstGeom prst="roundRect">
            <a:avLst/>
          </a:prstGeom>
          <a:solidFill>
            <a:srgbClr val="3D4A5C"/>
          </a:solidFill>
          <a:ln w="635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...filtered_MICE (1).csv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(filtered xray)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223 GRBs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8768" y="868680"/>
            <a:ext cx="1673352" cy="566928"/>
          </a:xfrm>
          <a:prstGeom prst="roundRect">
            <a:avLst/>
          </a:prstGeom>
          <a:solidFill>
            <a:srgbClr val="3D4A5C"/>
          </a:solidFill>
          <a:ln w="635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OnlyLGRBs...(1).csv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(opt, error-cut+MICE)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161 GRBs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94076" y="1453895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618487"/>
            <a:ext cx="516636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i="1">
                <a:solidFill>
                  <a:srgbClr val="8A8478"/>
                </a:solidFill>
                <a:latin typeface="Calibri"/>
              </a:rPr>
              <a:t>Overlap: filtered xray ∩ opt = 78  |  unfiltered xray ∩ opt = 86  —  suffixes matter for GRB IDs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894076" y="1965960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130552"/>
            <a:ext cx="5166360" cy="566928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Combine (OT-fusion or emcee-projection) + MICE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emcee: MCMC calibration on overlap GRBs, refit every run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→ 306 GRBs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94076" y="2715768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2880360"/>
            <a:ext cx="5166360" cy="50292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Error-ratio cut (err/|value| &gt; 0.5)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→ 296 GRBs  (73 optically-recovered, is_optical flag)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894076" y="3401568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3566160"/>
            <a:ext cx="5166360" cy="45720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 filter: long GRBs only (T90 &gt; 2s)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→ 285 GRBs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94076" y="4041648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4206240"/>
            <a:ext cx="516636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i="1">
                <a:solidFill>
                  <a:srgbClr val="8A8478"/>
                </a:solidFill>
                <a:latin typeface="Calibri"/>
              </a:rPr>
              <a:t>** saved: grb_post_scope_filter_285.csv  |  4D plots done (Plot_Output/)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894076" y="4480560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4645152"/>
            <a:ext cx="5166360" cy="868680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Non-negotiable cuts — GRBs removed completely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Alpha&gt;3, Beta&gt;2, log10T90&gt;6, PhotonIndex&lt;0, err&gt;value (Alpha/Beta/Fa/Ta only)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4 flagged → 4 removed (1 hard, 3 err&gt;value — all X-ray-native, not emcee-fit)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→ 281 GRBs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568696"/>
            <a:ext cx="5166360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i="1">
                <a:solidFill>
                  <a:srgbClr val="8A8478"/>
                </a:solidFill>
                <a:latin typeface="Calibri"/>
              </a:rPr>
              <a:t>** saved: grb_filtered_281.csv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868680"/>
            <a:ext cx="5120640" cy="502920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LASSO feature selection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100× cv.glmnet on log10(z+1) → rank all 10 predictors, top-7 get squared terms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226295" y="1389888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1554480"/>
            <a:ext cx="5120640" cy="777240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Formula generation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O1(127) + O2(16,383) = 16,510 candidates (matches paper exactly)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100 randomized 80:20 splits → LINEAR z-scale scoring, bias-gated r+rmse vote tally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Winner: 8/200 votes — (log10FaSqr+log10T90+log10Fa+log10PeakFlux)^2+log10NH+PhotonIndex+log10Ta+Alpha+...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226295" y="2350008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2514600"/>
            <a:ext cx="5120640" cy="548640"/>
          </a:xfrm>
          <a:prstGeom prst="roundRect">
            <a:avLst/>
          </a:prstGeom>
          <a:solidFill>
            <a:srgbClr val="B5502E"/>
          </a:solidFill>
          <a:ln w="6350">
            <a:solidFill>
              <a:srgbClr val="B55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M-estimator cut using winning formula (bottom 5% by weight)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15 removed → 266 GRBs = final_outliers_removed.csv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226295" y="3081528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20840" y="3246120"/>
            <a:ext cx="5120640" cy="457200"/>
          </a:xfrm>
          <a:prstGeom prst="roundRect">
            <a:avLst/>
          </a:prstGeom>
          <a:solidFill>
            <a:srgbClr val="2E5C3D"/>
          </a:solidFill>
          <a:ln w="6350">
            <a:solidFill>
              <a:srgbClr val="2E5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SuperLearner  (do_m_estimator = FALSE — already cut upstream)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formula + generic learners, MICE, isolation feature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226295" y="3721608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3886200"/>
            <a:ext cx="5120640" cy="457200"/>
          </a:xfrm>
          <a:prstGeom prst="roundRect">
            <a:avLst/>
          </a:prstGeom>
          <a:solidFill>
            <a:srgbClr val="2E5C3D"/>
          </a:solidFill>
          <a:ln w="6350">
            <a:solidFill>
              <a:srgbClr val="2E5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80/20 holdout split × 10-fold CV × loop=10 reps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266 → 213 train (80%) / 53 holdout (20%)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226295" y="4361688"/>
            <a:ext cx="109728" cy="128016"/>
          </a:xfrm>
          <a:prstGeom prst="down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20840" y="4526280"/>
            <a:ext cx="5120640" cy="777240"/>
          </a:xfrm>
          <a:prstGeom prst="roundRect">
            <a:avLst/>
          </a:prstGeom>
          <a:solidFill>
            <a:srgbClr val="8E2E3D"/>
          </a:solidFill>
          <a:ln w="6350">
            <a:solidFill>
              <a:srgbClr val="8E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Results (MC-propagated)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All: n=213, r(log)=0.672, r(z)=0.664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Without catastrophic outliers: n=204, r(log)=0.720, r(z)=0.700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Inside 2σ cone: n=55, r(log)=0.964, r(z)=0.967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577840" y="5742431"/>
            <a:ext cx="1097279" cy="128016"/>
          </a:xfrm>
          <a:prstGeom prst="rightArrow">
            <a:avLst/>
          </a:prstGeom>
          <a:solidFill>
            <a:srgbClr val="8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6446520"/>
            <a:ext cx="146304" cy="146304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1737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201C"/>
                </a:solidFill>
                <a:latin typeface="Calibri"/>
              </a:rPr>
              <a:t>Raw files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79" y="6446520"/>
            <a:ext cx="146304" cy="146304"/>
          </a:xfrm>
          <a:prstGeom prst="rect">
            <a:avLst/>
          </a:prstGeom>
          <a:solidFill>
            <a:srgbClr val="2E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6400800"/>
            <a:ext cx="1737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201C"/>
                </a:solidFill>
                <a:latin typeface="Calibri"/>
              </a:rPr>
              <a:t>Combine/clean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6446520"/>
            <a:ext cx="146304" cy="146304"/>
          </a:xfrm>
          <a:prstGeom prst="rect">
            <a:avLst/>
          </a:prstGeom>
          <a:solidFill>
            <a:srgbClr val="B5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6400800"/>
            <a:ext cx="1737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201C"/>
                </a:solidFill>
                <a:latin typeface="Calibri"/>
              </a:rPr>
              <a:t>Cut/removal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6446520"/>
            <a:ext cx="146304" cy="146304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6400800"/>
            <a:ext cx="1737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201C"/>
                </a:solidFill>
                <a:latin typeface="Calibri"/>
              </a:rPr>
              <a:t>LASSO/formula gen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6446520"/>
            <a:ext cx="146304" cy="146304"/>
          </a:xfrm>
          <a:prstGeom prst="rect">
            <a:avLst/>
          </a:prstGeom>
          <a:solidFill>
            <a:srgbClr val="2E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19" y="6400800"/>
            <a:ext cx="1737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201C"/>
                </a:solidFill>
                <a:latin typeface="Calibri"/>
              </a:rPr>
              <a:t>SuperLearner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8359" y="6446520"/>
            <a:ext cx="146304" cy="146304"/>
          </a:xfrm>
          <a:prstGeom prst="rect">
            <a:avLst/>
          </a:prstGeom>
          <a:solidFill>
            <a:srgbClr val="8E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39" y="6400800"/>
            <a:ext cx="1737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201C"/>
                </a:solidFill>
                <a:latin typeface="Calibri"/>
              </a:rPr>
              <a:t>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